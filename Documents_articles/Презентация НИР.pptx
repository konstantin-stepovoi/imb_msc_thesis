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7" r:id="rId9"/>
    <p:sldId id="273" r:id="rId10"/>
    <p:sldId id="274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71" y="4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5350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56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740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1477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99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04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687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48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85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190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37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4F0F2-56D8-4BAA-B10F-402EE43D8DD9}" type="datetimeFigureOut">
              <a:rPr lang="ru-RU" smtClean="0"/>
              <a:t>19.05.2024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1B665B-A531-43DD-AEA5-00DD52E7FA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728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Овал 11"/>
          <p:cNvSpPr/>
          <p:nvPr/>
        </p:nvSpPr>
        <p:spPr>
          <a:xfrm>
            <a:off x="-4231560" y="-6865747"/>
            <a:ext cx="11302827" cy="11302827"/>
          </a:xfrm>
          <a:prstGeom prst="ellipse">
            <a:avLst/>
          </a:prstGeom>
          <a:solidFill>
            <a:srgbClr val="E6E8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388620" y="1623661"/>
            <a:ext cx="62818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 smtClean="0">
                <a:latin typeface="Arial Black" panose="020B0A04020102020204" pitchFamily="34" charset="0"/>
              </a:rPr>
              <a:t>Разработка статистически устойчивого метода исследования </a:t>
            </a:r>
            <a:r>
              <a:rPr lang="ru-RU" sz="2400" dirty="0" err="1" smtClean="0">
                <a:latin typeface="Arial Black" panose="020B0A04020102020204" pitchFamily="34" charset="0"/>
              </a:rPr>
              <a:t>скоординированности</a:t>
            </a:r>
            <a:r>
              <a:rPr lang="ru-RU" sz="2400" dirty="0" smtClean="0">
                <a:latin typeface="Arial Black" panose="020B0A04020102020204" pitchFamily="34" charset="0"/>
              </a:rPr>
              <a:t> экспрессии генов в доменных структурах геномов эукариот</a:t>
            </a:r>
            <a:endParaRPr lang="ru-RU" sz="2000" dirty="0" smtClean="0"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95656" y="4534495"/>
            <a:ext cx="52764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i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Степовой Константин, М06-902</a:t>
            </a:r>
          </a:p>
          <a:p>
            <a:pPr algn="r"/>
            <a:r>
              <a:rPr lang="ru-RU" sz="2000" i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Руководитель:  Юрий Всеволодович </a:t>
            </a:r>
            <a:r>
              <a:rPr lang="ru-RU" sz="2000" i="1" dirty="0" err="1" smtClean="0">
                <a:latin typeface="Calibri Light" panose="020F0302020204030204" pitchFamily="34" charset="0"/>
                <a:cs typeface="Calibri Light" panose="020F0302020204030204" pitchFamily="34" charset="0"/>
              </a:rPr>
              <a:t>Кравацкий</a:t>
            </a:r>
            <a:r>
              <a:rPr lang="ru-RU" sz="2000" i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, ИМБ</a:t>
            </a:r>
            <a:endParaRPr lang="ru-RU" i="1" dirty="0" smtClean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90247" y="6490203"/>
            <a:ext cx="2411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Долгопрудный, 2024г.</a:t>
            </a:r>
            <a:endParaRPr lang="ru-RU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6" y="5962198"/>
            <a:ext cx="2008966" cy="8973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9732" y="3558204"/>
            <a:ext cx="60307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Научно-исследовательская работа 10 семестр</a:t>
            </a:r>
            <a:endParaRPr lang="ru-RU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9489" y="-64660"/>
            <a:ext cx="54438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chemeClr val="bg1">
                    <a:lumMod val="85000"/>
                  </a:schemeClr>
                </a:solidFill>
                <a:latin typeface="Arial Black" panose="020B0A04020102020204" pitchFamily="34" charset="0"/>
              </a:rPr>
              <a:t>01</a:t>
            </a:r>
            <a:endParaRPr lang="ru-RU" sz="9600" dirty="0">
              <a:solidFill>
                <a:schemeClr val="bg1">
                  <a:lumMod val="85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99" y="2249100"/>
            <a:ext cx="4882685" cy="239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580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Овал 19"/>
          <p:cNvSpPr/>
          <p:nvPr/>
        </p:nvSpPr>
        <p:spPr>
          <a:xfrm>
            <a:off x="5034274" y="1376574"/>
            <a:ext cx="8211377" cy="8211377"/>
          </a:xfrm>
          <a:prstGeom prst="ellipse">
            <a:avLst/>
          </a:prstGeom>
          <a:solidFill>
            <a:srgbClr val="ED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/>
          <p:cNvSpPr/>
          <p:nvPr/>
        </p:nvSpPr>
        <p:spPr>
          <a:xfrm>
            <a:off x="-1218950" y="-6834803"/>
            <a:ext cx="8211377" cy="8211377"/>
          </a:xfrm>
          <a:prstGeom prst="ellipse">
            <a:avLst/>
          </a:prstGeom>
          <a:solidFill>
            <a:srgbClr val="D9D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244549" y="1704982"/>
            <a:ext cx="56533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u="sng" dirty="0">
                <a:latin typeface="Calibri Light" panose="020F0302020204030204" pitchFamily="34" charset="0"/>
                <a:cs typeface="Calibri Light" panose="020F0302020204030204" pitchFamily="34" charset="0"/>
              </a:rPr>
              <a:t>Цель работы</a:t>
            </a:r>
            <a:r>
              <a:rPr lang="ru-RU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: разработка, совершенствование и внедрение статистических алгоритмов исследования </a:t>
            </a:r>
            <a:r>
              <a:rPr lang="ru-RU" sz="2400" b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координированности</a:t>
            </a:r>
            <a:r>
              <a:rPr lang="ru-RU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4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экспрессии</a:t>
            </a:r>
          </a:p>
          <a:p>
            <a:r>
              <a:rPr lang="ru-RU" sz="24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в </a:t>
            </a:r>
            <a:r>
              <a:rPr lang="ru-RU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группах генов, </a:t>
            </a:r>
            <a:r>
              <a:rPr lang="ru-RU" sz="24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определяемых</a:t>
            </a:r>
          </a:p>
          <a:p>
            <a:r>
              <a:rPr lang="ru-RU" sz="24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ru-RU" sz="2400" b="1" dirty="0">
                <a:latin typeface="Calibri Light" panose="020F0302020204030204" pitchFamily="34" charset="0"/>
                <a:cs typeface="Calibri Light" panose="020F0302020204030204" pitchFamily="34" charset="0"/>
              </a:rPr>
              <a:t>доменной структурой генома </a:t>
            </a:r>
            <a:endParaRPr lang="ru-RU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07524" y="1813590"/>
            <a:ext cx="46648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Задачи, решаемые </a:t>
            </a:r>
          </a:p>
          <a:p>
            <a:pPr algn="ctr"/>
            <a:r>
              <a:rPr lang="ru-RU" sz="24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для достижения цели</a:t>
            </a:r>
            <a:r>
              <a:rPr lang="en-US" sz="2400" b="1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:</a:t>
            </a:r>
            <a:endParaRPr lang="ru-RU" sz="24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grpSp>
        <p:nvGrpSpPr>
          <p:cNvPr id="15" name="Группа 14"/>
          <p:cNvGrpSpPr/>
          <p:nvPr/>
        </p:nvGrpSpPr>
        <p:grpSpPr>
          <a:xfrm>
            <a:off x="52990" y="75753"/>
            <a:ext cx="5475939" cy="898660"/>
            <a:chOff x="488926" y="141376"/>
            <a:chExt cx="5475939" cy="898660"/>
          </a:xfrm>
        </p:grpSpPr>
        <p:pic>
          <p:nvPicPr>
            <p:cNvPr id="12" name="Рисунок 1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926" y="141376"/>
              <a:ext cx="767413" cy="767413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1425388" y="393705"/>
              <a:ext cx="45394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Аннотация</a:t>
              </a:r>
            </a:p>
          </p:txBody>
        </p:sp>
      </p:grpSp>
      <p:cxnSp>
        <p:nvCxnSpPr>
          <p:cNvPr id="17" name="Прямая соединительная линия 16"/>
          <p:cNvCxnSpPr/>
          <p:nvPr/>
        </p:nvCxnSpPr>
        <p:spPr>
          <a:xfrm>
            <a:off x="244549" y="1116419"/>
            <a:ext cx="52843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Группа 24"/>
          <p:cNvGrpSpPr/>
          <p:nvPr/>
        </p:nvGrpSpPr>
        <p:grpSpPr>
          <a:xfrm>
            <a:off x="6042413" y="2768661"/>
            <a:ext cx="5991678" cy="1015663"/>
            <a:chOff x="6210067" y="3414519"/>
            <a:chExt cx="5686474" cy="1015663"/>
          </a:xfrm>
        </p:grpSpPr>
        <p:sp>
          <p:nvSpPr>
            <p:cNvPr id="6" name="TextBox 5"/>
            <p:cNvSpPr txBox="1"/>
            <p:nvPr/>
          </p:nvSpPr>
          <p:spPr>
            <a:xfrm>
              <a:off x="6811312" y="3414519"/>
              <a:ext cx="508522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Разработка и реализация метода исследования </a:t>
              </a:r>
              <a:r>
                <a:rPr lang="ru-RU" sz="2000" dirty="0" err="1" smtClean="0">
                  <a:latin typeface="Calibri Light" panose="020F0302020204030204" pitchFamily="34" charset="0"/>
                  <a:cs typeface="Calibri Light" panose="020F0302020204030204" pitchFamily="34" charset="0"/>
                </a:rPr>
                <a:t>координированности</a:t>
              </a:r>
              <a:r>
                <a:rPr lang="ru-RU" sz="2000" dirty="0" smtClean="0">
                  <a:latin typeface="Calibri Light" panose="020F0302020204030204" pitchFamily="34" charset="0"/>
                  <a:cs typeface="Calibri Light" panose="020F0302020204030204" pitchFamily="34" charset="0"/>
                </a:rPr>
                <a:t> экспрессии </a:t>
              </a:r>
              <a:r>
                <a:rPr lang="ru-RU" sz="2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генов в виде </a:t>
              </a:r>
              <a:r>
                <a:rPr lang="ru-RU" sz="2000" dirty="0" err="1" smtClean="0">
                  <a:latin typeface="Calibri Light" panose="020F0302020204030204" pitchFamily="34" charset="0"/>
                  <a:cs typeface="Calibri Light" panose="020F0302020204030204" pitchFamily="34" charset="0"/>
                </a:rPr>
                <a:t>Python</a:t>
              </a:r>
              <a:r>
                <a:rPr lang="ru-RU" sz="2000" dirty="0" smtClean="0">
                  <a:latin typeface="Calibri Light" panose="020F0302020204030204" pitchFamily="34" charset="0"/>
                  <a:cs typeface="Calibri Light" panose="020F0302020204030204" pitchFamily="34" charset="0"/>
                </a:rPr>
                <a:t>-приложения</a:t>
              </a:r>
              <a:endParaRPr lang="ru-RU" sz="2000" dirty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1" name="Овал 20"/>
            <p:cNvSpPr/>
            <p:nvPr/>
          </p:nvSpPr>
          <p:spPr>
            <a:xfrm>
              <a:off x="6210067" y="3676167"/>
              <a:ext cx="464074" cy="46407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 smtClean="0">
                  <a:latin typeface="Arial Black" panose="020B0A04020102020204" pitchFamily="34" charset="0"/>
                </a:rPr>
                <a:t>1</a:t>
              </a:r>
              <a:endParaRPr lang="ru-RU" sz="1400" dirty="0">
                <a:latin typeface="Arial Black" panose="020B0A04020102020204" pitchFamily="34" charset="0"/>
              </a:endParaRP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5386078" y="3702979"/>
            <a:ext cx="6388389" cy="1015663"/>
            <a:chOff x="5832050" y="4025376"/>
            <a:chExt cx="6388389" cy="1015663"/>
          </a:xfrm>
        </p:grpSpPr>
        <p:sp>
          <p:nvSpPr>
            <p:cNvPr id="7" name="TextBox 6"/>
            <p:cNvSpPr txBox="1"/>
            <p:nvPr/>
          </p:nvSpPr>
          <p:spPr>
            <a:xfrm>
              <a:off x="6365438" y="4025376"/>
              <a:ext cx="585500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Статистическое моделирование для проверки применимости разработанной теории и её реализации на модельных данных.</a:t>
              </a:r>
              <a:endParaRPr lang="ru-RU" sz="2000" dirty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22" name="Овал 21"/>
            <p:cNvSpPr/>
            <p:nvPr/>
          </p:nvSpPr>
          <p:spPr>
            <a:xfrm>
              <a:off x="5832050" y="4364383"/>
              <a:ext cx="464074" cy="46407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latin typeface="Arial Black" panose="020B0A04020102020204" pitchFamily="34" charset="0"/>
                </a:rPr>
                <a:t>2</a:t>
              </a:r>
              <a:endParaRPr lang="ru-RU" sz="14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5737881" y="4804659"/>
            <a:ext cx="62265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Применение </a:t>
            </a:r>
            <a:r>
              <a:rPr lang="ru-RU" sz="2000" dirty="0" smtClean="0">
                <a:latin typeface="Calibri Light" panose="020F0302020204030204" pitchFamily="34" charset="0"/>
                <a:cs typeface="Calibri Light" panose="020F0302020204030204" pitchFamily="34" charset="0"/>
              </a:rPr>
              <a:t>алгоритма в генетических исследованиях для проверки ранее сформулированных предположений</a:t>
            </a:r>
            <a:endParaRPr lang="ru-RU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339883" y="5312491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E6E6E6"/>
                </a:solidFill>
                <a:latin typeface="Arial Black" panose="020B0A04020102020204" pitchFamily="34" charset="0"/>
              </a:rPr>
              <a:t>0</a:t>
            </a:r>
            <a:r>
              <a:rPr lang="ru-RU" sz="9600" dirty="0" smtClean="0">
                <a:solidFill>
                  <a:srgbClr val="E6E6E6"/>
                </a:solidFill>
                <a:latin typeface="Arial Black" panose="020B0A04020102020204" pitchFamily="34" charset="0"/>
              </a:rPr>
              <a:t>2</a:t>
            </a:r>
            <a:endParaRPr lang="ru-RU" sz="9600" dirty="0">
              <a:solidFill>
                <a:srgbClr val="E6E6E6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30" name="Группа 29"/>
          <p:cNvGrpSpPr/>
          <p:nvPr/>
        </p:nvGrpSpPr>
        <p:grpSpPr>
          <a:xfrm>
            <a:off x="5271376" y="5924096"/>
            <a:ext cx="5001317" cy="707886"/>
            <a:chOff x="5539556" y="4840694"/>
            <a:chExt cx="5001317" cy="707886"/>
          </a:xfrm>
        </p:grpSpPr>
        <p:sp>
          <p:nvSpPr>
            <p:cNvPr id="31" name="TextBox 30"/>
            <p:cNvSpPr txBox="1"/>
            <p:nvPr/>
          </p:nvSpPr>
          <p:spPr>
            <a:xfrm>
              <a:off x="6070820" y="4840694"/>
              <a:ext cx="447005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latin typeface="Calibri Light" panose="020F0302020204030204" pitchFamily="34" charset="0"/>
                  <a:cs typeface="Calibri Light" panose="020F0302020204030204" pitchFamily="34" charset="0"/>
                </a:rPr>
                <a:t>Оптимизация метода для работы с большими объёмами </a:t>
              </a:r>
              <a:r>
                <a:rPr lang="ru-RU" sz="2000" dirty="0" smtClean="0">
                  <a:latin typeface="Calibri Light" panose="020F0302020204030204" pitchFamily="34" charset="0"/>
                  <a:cs typeface="Calibri Light" panose="020F0302020204030204" pitchFamily="34" charset="0"/>
                </a:rPr>
                <a:t>данных</a:t>
              </a:r>
              <a:endParaRPr lang="ru-RU" sz="2000" dirty="0"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  <p:sp>
          <p:nvSpPr>
            <p:cNvPr id="32" name="Овал 31"/>
            <p:cNvSpPr/>
            <p:nvPr/>
          </p:nvSpPr>
          <p:spPr>
            <a:xfrm>
              <a:off x="5539556" y="4962600"/>
              <a:ext cx="464074" cy="46407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800" dirty="0">
                  <a:latin typeface="Arial Black" panose="020B0A04020102020204" pitchFamily="34" charset="0"/>
                </a:rPr>
                <a:t>4</a:t>
              </a:r>
              <a:endParaRPr lang="ru-RU" sz="14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33" name="Овал 32"/>
          <p:cNvSpPr/>
          <p:nvPr/>
        </p:nvSpPr>
        <p:spPr>
          <a:xfrm>
            <a:off x="5154041" y="5080453"/>
            <a:ext cx="464074" cy="464074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 smtClean="0">
                <a:latin typeface="Arial Black" panose="020B0A04020102020204" pitchFamily="34" charset="0"/>
              </a:rPr>
              <a:t>3</a:t>
            </a:r>
            <a:endParaRPr lang="ru-RU" sz="1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24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515391" y="391055"/>
            <a:ext cx="8808564" cy="773922"/>
            <a:chOff x="2515391" y="391055"/>
            <a:chExt cx="8808564" cy="773922"/>
          </a:xfrm>
        </p:grpSpPr>
        <p:sp>
          <p:nvSpPr>
            <p:cNvPr id="13" name="TextBox 12"/>
            <p:cNvSpPr txBox="1"/>
            <p:nvPr/>
          </p:nvSpPr>
          <p:spPr>
            <a:xfrm>
              <a:off x="3232578" y="391055"/>
              <a:ext cx="8091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Разработка алгоритма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515391" y="1164977"/>
              <a:ext cx="801084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46888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</a:t>
            </a:r>
            <a:r>
              <a:rPr lang="ru-RU" sz="9600" dirty="0">
                <a:solidFill>
                  <a:srgbClr val="F2F2F2"/>
                </a:solidFill>
                <a:latin typeface="Arial Black" panose="020B0A04020102020204" pitchFamily="34" charset="0"/>
              </a:rPr>
              <a:t>3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77" y="1551442"/>
            <a:ext cx="4827320" cy="145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59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515391" y="391055"/>
            <a:ext cx="8808564" cy="773922"/>
            <a:chOff x="2515391" y="391055"/>
            <a:chExt cx="8808564" cy="773922"/>
          </a:xfrm>
        </p:grpSpPr>
        <p:sp>
          <p:nvSpPr>
            <p:cNvPr id="13" name="TextBox 12"/>
            <p:cNvSpPr txBox="1"/>
            <p:nvPr/>
          </p:nvSpPr>
          <p:spPr>
            <a:xfrm>
              <a:off x="3232578" y="391055"/>
              <a:ext cx="8091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Разработка алгоритма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515391" y="1164977"/>
              <a:ext cx="801084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46888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</a:t>
            </a:r>
            <a:r>
              <a:rPr lang="ru-RU" sz="9600" dirty="0">
                <a:solidFill>
                  <a:srgbClr val="F2F2F2"/>
                </a:solidFill>
                <a:latin typeface="Arial Black" panose="020B0A04020102020204" pitchFamily="34" charset="0"/>
              </a:rPr>
              <a:t>3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77" y="1551442"/>
            <a:ext cx="4827320" cy="145263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547" y="1338655"/>
            <a:ext cx="4205826" cy="2296054"/>
          </a:xfrm>
          <a:prstGeom prst="rect">
            <a:avLst/>
          </a:prstGeom>
        </p:spPr>
      </p:pic>
      <p:cxnSp>
        <p:nvCxnSpPr>
          <p:cNvPr id="6" name="Соединительная линия уступом 5"/>
          <p:cNvCxnSpPr>
            <a:stCxn id="4" idx="3"/>
            <a:endCxn id="3" idx="1"/>
          </p:cNvCxnSpPr>
          <p:nvPr/>
        </p:nvCxnSpPr>
        <p:spPr>
          <a:xfrm>
            <a:off x="5343897" y="2277758"/>
            <a:ext cx="1534650" cy="2089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003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515391" y="391055"/>
            <a:ext cx="8808564" cy="773922"/>
            <a:chOff x="2515391" y="391055"/>
            <a:chExt cx="8808564" cy="773922"/>
          </a:xfrm>
        </p:grpSpPr>
        <p:sp>
          <p:nvSpPr>
            <p:cNvPr id="13" name="TextBox 12"/>
            <p:cNvSpPr txBox="1"/>
            <p:nvPr/>
          </p:nvSpPr>
          <p:spPr>
            <a:xfrm>
              <a:off x="3232578" y="391055"/>
              <a:ext cx="8091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Разработка алгоритма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515391" y="1164977"/>
              <a:ext cx="801084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46888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</a:t>
            </a:r>
            <a:r>
              <a:rPr lang="ru-RU" sz="9600" dirty="0">
                <a:solidFill>
                  <a:srgbClr val="F2F2F2"/>
                </a:solidFill>
                <a:latin typeface="Arial Black" panose="020B0A04020102020204" pitchFamily="34" charset="0"/>
              </a:rPr>
              <a:t>3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77" y="1551442"/>
            <a:ext cx="4827320" cy="145263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547" y="1338655"/>
            <a:ext cx="4205826" cy="2296054"/>
          </a:xfrm>
          <a:prstGeom prst="rect">
            <a:avLst/>
          </a:prstGeom>
        </p:spPr>
      </p:pic>
      <p:cxnSp>
        <p:nvCxnSpPr>
          <p:cNvPr id="6" name="Соединительная линия уступом 5"/>
          <p:cNvCxnSpPr>
            <a:stCxn id="4" idx="3"/>
            <a:endCxn id="3" idx="1"/>
          </p:cNvCxnSpPr>
          <p:nvPr/>
        </p:nvCxnSpPr>
        <p:spPr>
          <a:xfrm>
            <a:off x="5343897" y="2277758"/>
            <a:ext cx="1534650" cy="2089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89" y="3634709"/>
            <a:ext cx="4924178" cy="2445030"/>
          </a:xfrm>
          <a:prstGeom prst="rect">
            <a:avLst/>
          </a:prstGeom>
        </p:spPr>
      </p:pic>
      <p:cxnSp>
        <p:nvCxnSpPr>
          <p:cNvPr id="11" name="Соединительная линия уступом 10"/>
          <p:cNvCxnSpPr/>
          <p:nvPr/>
        </p:nvCxnSpPr>
        <p:spPr>
          <a:xfrm rot="10800000" flipV="1">
            <a:off x="4845132" y="3380320"/>
            <a:ext cx="2921332" cy="7021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750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515391" y="391055"/>
            <a:ext cx="8808564" cy="773922"/>
            <a:chOff x="2515391" y="391055"/>
            <a:chExt cx="8808564" cy="773922"/>
          </a:xfrm>
        </p:grpSpPr>
        <p:sp>
          <p:nvSpPr>
            <p:cNvPr id="13" name="TextBox 12"/>
            <p:cNvSpPr txBox="1"/>
            <p:nvPr/>
          </p:nvSpPr>
          <p:spPr>
            <a:xfrm>
              <a:off x="3232578" y="391055"/>
              <a:ext cx="8091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Разработка алгоритма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515391" y="1164977"/>
              <a:ext cx="801084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46888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</a:t>
            </a:r>
            <a:r>
              <a:rPr lang="ru-RU" sz="9600" dirty="0">
                <a:solidFill>
                  <a:srgbClr val="F2F2F2"/>
                </a:solidFill>
                <a:latin typeface="Arial Black" panose="020B0A04020102020204" pitchFamily="34" charset="0"/>
              </a:rPr>
              <a:t>3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577" y="1551442"/>
            <a:ext cx="4827320" cy="145263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547" y="1338655"/>
            <a:ext cx="4205826" cy="2296054"/>
          </a:xfrm>
          <a:prstGeom prst="rect">
            <a:avLst/>
          </a:prstGeom>
        </p:spPr>
      </p:pic>
      <p:cxnSp>
        <p:nvCxnSpPr>
          <p:cNvPr id="6" name="Соединительная линия уступом 5"/>
          <p:cNvCxnSpPr>
            <a:stCxn id="4" idx="3"/>
            <a:endCxn id="3" idx="1"/>
          </p:cNvCxnSpPr>
          <p:nvPr/>
        </p:nvCxnSpPr>
        <p:spPr>
          <a:xfrm>
            <a:off x="5343897" y="2277758"/>
            <a:ext cx="1534650" cy="2089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489" y="3634709"/>
            <a:ext cx="4924178" cy="2445030"/>
          </a:xfrm>
          <a:prstGeom prst="rect">
            <a:avLst/>
          </a:prstGeom>
        </p:spPr>
      </p:pic>
      <p:cxnSp>
        <p:nvCxnSpPr>
          <p:cNvPr id="11" name="Соединительная линия уступом 10"/>
          <p:cNvCxnSpPr/>
          <p:nvPr/>
        </p:nvCxnSpPr>
        <p:spPr>
          <a:xfrm rot="10800000" flipV="1">
            <a:off x="4845132" y="3380320"/>
            <a:ext cx="2921332" cy="7021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0976" y="5264335"/>
            <a:ext cx="4888203" cy="1096030"/>
          </a:xfrm>
          <a:prstGeom prst="rect">
            <a:avLst/>
          </a:prstGeom>
        </p:spPr>
      </p:pic>
      <p:cxnSp>
        <p:nvCxnSpPr>
          <p:cNvPr id="17" name="Соединительная линия уступом 16"/>
          <p:cNvCxnSpPr>
            <a:stCxn id="5" idx="3"/>
            <a:endCxn id="9" idx="0"/>
          </p:cNvCxnSpPr>
          <p:nvPr/>
        </p:nvCxnSpPr>
        <p:spPr>
          <a:xfrm>
            <a:off x="5694667" y="4857224"/>
            <a:ext cx="2660411" cy="40711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Рисунок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6233" y="5404648"/>
            <a:ext cx="1176512" cy="81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1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515391" y="391055"/>
            <a:ext cx="8808564" cy="773922"/>
            <a:chOff x="2515391" y="391055"/>
            <a:chExt cx="8808564" cy="773922"/>
          </a:xfrm>
        </p:grpSpPr>
        <p:sp>
          <p:nvSpPr>
            <p:cNvPr id="13" name="TextBox 12"/>
            <p:cNvSpPr txBox="1"/>
            <p:nvPr/>
          </p:nvSpPr>
          <p:spPr>
            <a:xfrm>
              <a:off x="3232578" y="391055"/>
              <a:ext cx="8091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Разработка алгоритма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515391" y="1164977"/>
              <a:ext cx="801084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58763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04</a:t>
            </a:r>
            <a:endParaRPr lang="ru-RU" sz="9600" dirty="0">
              <a:solidFill>
                <a:srgbClr val="F2F2F2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38" y="1423988"/>
            <a:ext cx="3954738" cy="374388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667295" y="4641165"/>
            <a:ext cx="3904342" cy="805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5) </a:t>
            </a:r>
            <a:r>
              <a:rPr lang="ru-RU" sz="1400" dirty="0" smtClean="0"/>
              <a:t>Хромосома (или весь геном в случае </a:t>
            </a:r>
            <a:r>
              <a:rPr lang="ru-RU" sz="1400" dirty="0" err="1" smtClean="0"/>
              <a:t>полногеномного</a:t>
            </a:r>
            <a:r>
              <a:rPr lang="ru-RU" sz="1400" dirty="0" smtClean="0"/>
              <a:t> анализа) замыкается в кольцо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2668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515391" y="391055"/>
            <a:ext cx="8808564" cy="773922"/>
            <a:chOff x="2515391" y="391055"/>
            <a:chExt cx="8808564" cy="773922"/>
          </a:xfrm>
        </p:grpSpPr>
        <p:sp>
          <p:nvSpPr>
            <p:cNvPr id="13" name="TextBox 12"/>
            <p:cNvSpPr txBox="1"/>
            <p:nvPr/>
          </p:nvSpPr>
          <p:spPr>
            <a:xfrm>
              <a:off x="3232578" y="391055"/>
              <a:ext cx="8091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Разработка алгоритма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515391" y="1164977"/>
              <a:ext cx="801084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58763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04</a:t>
            </a:r>
            <a:endParaRPr lang="ru-RU" sz="9600" dirty="0">
              <a:solidFill>
                <a:srgbClr val="F2F2F2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38" y="1423988"/>
            <a:ext cx="3954738" cy="374388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812" y="1423988"/>
            <a:ext cx="4192271" cy="3953728"/>
          </a:xfrm>
          <a:prstGeom prst="rect">
            <a:avLst/>
          </a:prstGeom>
        </p:spPr>
      </p:pic>
      <p:cxnSp>
        <p:nvCxnSpPr>
          <p:cNvPr id="5" name="Соединительная линия уступом 4"/>
          <p:cNvCxnSpPr>
            <a:stCxn id="7" idx="3"/>
            <a:endCxn id="3" idx="1"/>
          </p:cNvCxnSpPr>
          <p:nvPr/>
        </p:nvCxnSpPr>
        <p:spPr>
          <a:xfrm>
            <a:off x="4563976" y="3295932"/>
            <a:ext cx="1956836" cy="1049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667295" y="4641165"/>
            <a:ext cx="3904342" cy="805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5) </a:t>
            </a:r>
            <a:r>
              <a:rPr lang="ru-RU" sz="1400" dirty="0" smtClean="0"/>
              <a:t>Хромосома (или весь геном в случае </a:t>
            </a:r>
            <a:r>
              <a:rPr lang="ru-RU" sz="1400" dirty="0" err="1" smtClean="0"/>
              <a:t>полногеномного</a:t>
            </a:r>
            <a:r>
              <a:rPr lang="ru-RU" sz="1400" dirty="0" smtClean="0"/>
              <a:t> анализа) замыкается в кольцо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664776" y="5043936"/>
            <a:ext cx="3904342" cy="805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6</a:t>
            </a:r>
            <a:r>
              <a:rPr lang="en-US" sz="1400" dirty="0" smtClean="0"/>
              <a:t>)</a:t>
            </a:r>
            <a:r>
              <a:rPr lang="ru-RU" sz="1400" dirty="0" smtClean="0"/>
              <a:t> Уровни экспрессии генов, измеренные в виде </a:t>
            </a:r>
            <a:r>
              <a:rPr lang="en-US" sz="1400" dirty="0" smtClean="0"/>
              <a:t>TPM </a:t>
            </a:r>
            <a:r>
              <a:rPr lang="ru-RU" sz="1400" dirty="0" smtClean="0"/>
              <a:t>или </a:t>
            </a:r>
            <a:r>
              <a:rPr lang="en-US" sz="1400" dirty="0" smtClean="0"/>
              <a:t>RPKM</a:t>
            </a:r>
            <a:r>
              <a:rPr lang="ru-RU" sz="1400" dirty="0" smtClean="0"/>
              <a:t>, </a:t>
            </a:r>
            <a:r>
              <a:rPr lang="en-US" sz="1400" dirty="0" smtClean="0"/>
              <a:t>“</a:t>
            </a:r>
            <a:r>
              <a:rPr lang="ru-RU" sz="1400" dirty="0" smtClean="0"/>
              <a:t>проворачиваются</a:t>
            </a:r>
            <a:r>
              <a:rPr lang="en-US" sz="1400" dirty="0" smtClean="0"/>
              <a:t>” </a:t>
            </a:r>
            <a:r>
              <a:rPr lang="ru-RU" sz="1400" dirty="0" smtClean="0"/>
              <a:t>по кольцу в на случайное число позиций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31418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515391" y="391055"/>
            <a:ext cx="8808564" cy="773922"/>
            <a:chOff x="2515391" y="391055"/>
            <a:chExt cx="8808564" cy="773922"/>
          </a:xfrm>
        </p:grpSpPr>
        <p:sp>
          <p:nvSpPr>
            <p:cNvPr id="13" name="TextBox 12"/>
            <p:cNvSpPr txBox="1"/>
            <p:nvPr/>
          </p:nvSpPr>
          <p:spPr>
            <a:xfrm>
              <a:off x="3232578" y="391055"/>
              <a:ext cx="8091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Разработка алгоритма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515391" y="1164977"/>
              <a:ext cx="801084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58763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04</a:t>
            </a:r>
            <a:endParaRPr lang="ru-RU" sz="9600" dirty="0">
              <a:solidFill>
                <a:srgbClr val="F2F2F2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38" y="1423988"/>
            <a:ext cx="3954738" cy="374388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812" y="1423988"/>
            <a:ext cx="4192271" cy="3953728"/>
          </a:xfrm>
          <a:prstGeom prst="rect">
            <a:avLst/>
          </a:prstGeom>
        </p:spPr>
      </p:pic>
      <p:cxnSp>
        <p:nvCxnSpPr>
          <p:cNvPr id="5" name="Соединительная линия уступом 4"/>
          <p:cNvCxnSpPr>
            <a:stCxn id="7" idx="3"/>
            <a:endCxn id="3" idx="1"/>
          </p:cNvCxnSpPr>
          <p:nvPr/>
        </p:nvCxnSpPr>
        <p:spPr>
          <a:xfrm>
            <a:off x="4563976" y="3295932"/>
            <a:ext cx="1956836" cy="1049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667295" y="4641165"/>
            <a:ext cx="3904342" cy="805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5) </a:t>
            </a:r>
            <a:r>
              <a:rPr lang="ru-RU" sz="1400" dirty="0" smtClean="0"/>
              <a:t>Хромосома (или весь геном в случае </a:t>
            </a:r>
            <a:r>
              <a:rPr lang="ru-RU" sz="1400" dirty="0" err="1" smtClean="0"/>
              <a:t>полногеномного</a:t>
            </a:r>
            <a:r>
              <a:rPr lang="ru-RU" sz="1400" dirty="0" smtClean="0"/>
              <a:t> анализа) замыкается в кольцо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664776" y="5043936"/>
            <a:ext cx="3904342" cy="805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6</a:t>
            </a:r>
            <a:r>
              <a:rPr lang="en-US" sz="1400" dirty="0" smtClean="0"/>
              <a:t>)</a:t>
            </a:r>
            <a:r>
              <a:rPr lang="ru-RU" sz="1400" dirty="0" smtClean="0"/>
              <a:t> Уровни экспрессии генов, измеренные в виде </a:t>
            </a:r>
            <a:r>
              <a:rPr lang="en-US" sz="1400" dirty="0" smtClean="0"/>
              <a:t>TPM </a:t>
            </a:r>
            <a:r>
              <a:rPr lang="ru-RU" sz="1400" dirty="0" smtClean="0"/>
              <a:t>или </a:t>
            </a:r>
            <a:r>
              <a:rPr lang="en-US" sz="1400" dirty="0" smtClean="0"/>
              <a:t>RPKM</a:t>
            </a:r>
            <a:r>
              <a:rPr lang="ru-RU" sz="1400" dirty="0" smtClean="0"/>
              <a:t>, </a:t>
            </a:r>
            <a:r>
              <a:rPr lang="en-US" sz="1400" dirty="0" smtClean="0"/>
              <a:t>“</a:t>
            </a:r>
            <a:r>
              <a:rPr lang="ru-RU" sz="1400" dirty="0" smtClean="0"/>
              <a:t>проворачиваются</a:t>
            </a:r>
            <a:r>
              <a:rPr lang="en-US" sz="1400" dirty="0" smtClean="0"/>
              <a:t>” </a:t>
            </a:r>
            <a:r>
              <a:rPr lang="ru-RU" sz="1400" dirty="0" smtClean="0"/>
              <a:t>по кольцу в на случайное число позиций</a:t>
            </a:r>
            <a:endParaRPr lang="ru-RU" sz="14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634436" y="5544679"/>
            <a:ext cx="3904342" cy="805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7</a:t>
            </a:r>
            <a:r>
              <a:rPr lang="en-US" sz="1400" dirty="0" smtClean="0"/>
              <a:t>)</a:t>
            </a:r>
            <a:r>
              <a:rPr lang="ru-RU" sz="1400" dirty="0" smtClean="0"/>
              <a:t> </a:t>
            </a:r>
            <a:r>
              <a:rPr lang="ru-RU" sz="1400" dirty="0" err="1" smtClean="0"/>
              <a:t>Матожидание</a:t>
            </a:r>
            <a:r>
              <a:rPr lang="ru-RU" sz="1400" dirty="0" smtClean="0"/>
              <a:t> и дисперсия вычисляется заново для нового расположения данных </a:t>
            </a:r>
            <a:endParaRPr lang="ru-RU" sz="1400" dirty="0"/>
          </a:p>
        </p:txBody>
      </p:sp>
      <p:cxnSp>
        <p:nvCxnSpPr>
          <p:cNvPr id="14" name="Соединительная линия уступом 13"/>
          <p:cNvCxnSpPr>
            <a:stCxn id="11" idx="1"/>
            <a:endCxn id="12" idx="3"/>
          </p:cNvCxnSpPr>
          <p:nvPr/>
        </p:nvCxnSpPr>
        <p:spPr>
          <a:xfrm rot="10800000" flipV="1">
            <a:off x="4538778" y="5446706"/>
            <a:ext cx="2125998" cy="5007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17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515391" y="391055"/>
            <a:ext cx="8808564" cy="773922"/>
            <a:chOff x="2515391" y="391055"/>
            <a:chExt cx="8808564" cy="773922"/>
          </a:xfrm>
        </p:grpSpPr>
        <p:sp>
          <p:nvSpPr>
            <p:cNvPr id="13" name="TextBox 12"/>
            <p:cNvSpPr txBox="1"/>
            <p:nvPr/>
          </p:nvSpPr>
          <p:spPr>
            <a:xfrm>
              <a:off x="3232578" y="391055"/>
              <a:ext cx="8091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Разработка алгоритма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515391" y="1164977"/>
              <a:ext cx="801084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58763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04</a:t>
            </a:r>
            <a:endParaRPr lang="ru-RU" sz="9600" dirty="0">
              <a:solidFill>
                <a:srgbClr val="F2F2F2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38" y="1423988"/>
            <a:ext cx="3954738" cy="374388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812" y="1423988"/>
            <a:ext cx="4192271" cy="3953728"/>
          </a:xfrm>
          <a:prstGeom prst="rect">
            <a:avLst/>
          </a:prstGeom>
        </p:spPr>
      </p:pic>
      <p:cxnSp>
        <p:nvCxnSpPr>
          <p:cNvPr id="5" name="Соединительная линия уступом 4"/>
          <p:cNvCxnSpPr>
            <a:stCxn id="7" idx="3"/>
            <a:endCxn id="3" idx="1"/>
          </p:cNvCxnSpPr>
          <p:nvPr/>
        </p:nvCxnSpPr>
        <p:spPr>
          <a:xfrm>
            <a:off x="4563976" y="3295932"/>
            <a:ext cx="1956836" cy="10492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667295" y="4641165"/>
            <a:ext cx="3904342" cy="805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5) </a:t>
            </a:r>
            <a:r>
              <a:rPr lang="ru-RU" sz="1400" dirty="0" smtClean="0"/>
              <a:t>Хромосома (или весь геном в случае </a:t>
            </a:r>
            <a:r>
              <a:rPr lang="ru-RU" sz="1400" dirty="0" err="1" smtClean="0"/>
              <a:t>полногеномного</a:t>
            </a:r>
            <a:r>
              <a:rPr lang="ru-RU" sz="1400" dirty="0" smtClean="0"/>
              <a:t> анализа) замыкается в кольцо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6664776" y="5043936"/>
            <a:ext cx="3904342" cy="805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6</a:t>
            </a:r>
            <a:r>
              <a:rPr lang="en-US" sz="1400" dirty="0" smtClean="0"/>
              <a:t>)</a:t>
            </a:r>
            <a:r>
              <a:rPr lang="ru-RU" sz="1400" dirty="0" smtClean="0"/>
              <a:t> Уровни экспрессии генов, измеренные в виде </a:t>
            </a:r>
            <a:r>
              <a:rPr lang="en-US" sz="1400" dirty="0" smtClean="0"/>
              <a:t>TPM </a:t>
            </a:r>
            <a:r>
              <a:rPr lang="ru-RU" sz="1400" dirty="0" smtClean="0"/>
              <a:t>или </a:t>
            </a:r>
            <a:r>
              <a:rPr lang="en-US" sz="1400" dirty="0" smtClean="0"/>
              <a:t>RPKM</a:t>
            </a:r>
            <a:r>
              <a:rPr lang="ru-RU" sz="1400" dirty="0" smtClean="0"/>
              <a:t>, </a:t>
            </a:r>
            <a:r>
              <a:rPr lang="en-US" sz="1400" dirty="0" smtClean="0"/>
              <a:t>“</a:t>
            </a:r>
            <a:r>
              <a:rPr lang="ru-RU" sz="1400" dirty="0" smtClean="0"/>
              <a:t>проворачиваются</a:t>
            </a:r>
            <a:r>
              <a:rPr lang="en-US" sz="1400" dirty="0" smtClean="0"/>
              <a:t>” </a:t>
            </a:r>
            <a:r>
              <a:rPr lang="ru-RU" sz="1400" dirty="0" smtClean="0"/>
              <a:t>по кольцу в на случайное число позиций</a:t>
            </a:r>
            <a:endParaRPr lang="ru-RU" sz="14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634436" y="5544679"/>
            <a:ext cx="3904342" cy="80554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7</a:t>
            </a:r>
            <a:r>
              <a:rPr lang="en-US" sz="1400" dirty="0" smtClean="0"/>
              <a:t>)</a:t>
            </a:r>
            <a:r>
              <a:rPr lang="ru-RU" sz="1400" dirty="0" smtClean="0"/>
              <a:t> </a:t>
            </a:r>
            <a:r>
              <a:rPr lang="ru-RU" sz="1400" dirty="0" err="1" smtClean="0"/>
              <a:t>Матожидание</a:t>
            </a:r>
            <a:r>
              <a:rPr lang="ru-RU" sz="1400" dirty="0" smtClean="0"/>
              <a:t> и дисперсия вычисляется заново для нового расположения данных </a:t>
            </a:r>
            <a:endParaRPr lang="ru-RU" sz="1400" dirty="0"/>
          </a:p>
        </p:txBody>
      </p:sp>
      <p:cxnSp>
        <p:nvCxnSpPr>
          <p:cNvPr id="14" name="Соединительная линия уступом 13"/>
          <p:cNvCxnSpPr>
            <a:stCxn id="11" idx="1"/>
            <a:endCxn id="12" idx="3"/>
          </p:cNvCxnSpPr>
          <p:nvPr/>
        </p:nvCxnSpPr>
        <p:spPr>
          <a:xfrm rot="10800000" flipV="1">
            <a:off x="4538778" y="5446706"/>
            <a:ext cx="2125998" cy="50074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Соединительная линия уступом 15"/>
          <p:cNvCxnSpPr>
            <a:endCxn id="7" idx="1"/>
          </p:cNvCxnSpPr>
          <p:nvPr/>
        </p:nvCxnSpPr>
        <p:spPr>
          <a:xfrm rot="16200000" flipV="1">
            <a:off x="-580268" y="4485438"/>
            <a:ext cx="2553546" cy="174534"/>
          </a:xfrm>
          <a:prstGeom prst="bentConnector4">
            <a:avLst>
              <a:gd name="adj1" fmla="val 13346"/>
              <a:gd name="adj2" fmla="val 23097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Рисунок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3043" y="4060103"/>
            <a:ext cx="2736714" cy="724823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4053043" y="4060103"/>
            <a:ext cx="2611733" cy="7248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/>
        </p:nvSpPr>
        <p:spPr>
          <a:xfrm>
            <a:off x="859440" y="6347304"/>
            <a:ext cx="9365907" cy="34834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8</a:t>
            </a:r>
            <a:r>
              <a:rPr lang="en-US" sz="1400" dirty="0" smtClean="0"/>
              <a:t>)</a:t>
            </a:r>
            <a:r>
              <a:rPr lang="ru-RU" sz="1400" dirty="0" smtClean="0"/>
              <a:t> В результате вычисляется </a:t>
            </a:r>
            <a:r>
              <a:rPr lang="ru-RU" sz="1400" dirty="0" err="1" smtClean="0"/>
              <a:t>матожидание</a:t>
            </a:r>
            <a:r>
              <a:rPr lang="ru-RU" sz="1400" dirty="0" smtClean="0"/>
              <a:t> и дисперсия вычисляется по всем перестановкам</a:t>
            </a:r>
            <a:endParaRPr lang="ru-RU" sz="1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1995714" y="6347304"/>
            <a:ext cx="7075715" cy="3483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94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515391" y="391055"/>
            <a:ext cx="8808564" cy="784830"/>
            <a:chOff x="2515391" y="391055"/>
            <a:chExt cx="8808564" cy="784830"/>
          </a:xfrm>
        </p:grpSpPr>
        <p:sp>
          <p:nvSpPr>
            <p:cNvPr id="13" name="TextBox 12"/>
            <p:cNvSpPr txBox="1"/>
            <p:nvPr/>
          </p:nvSpPr>
          <p:spPr>
            <a:xfrm>
              <a:off x="3232578" y="391055"/>
              <a:ext cx="8091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Результат вычислений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515391" y="1164977"/>
              <a:ext cx="6831809" cy="109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58763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</a:t>
            </a:r>
            <a:r>
              <a:rPr lang="ru-RU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5</a:t>
            </a:r>
            <a:endParaRPr lang="ru-RU" sz="9600" dirty="0">
              <a:solidFill>
                <a:srgbClr val="F2F2F2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16070" y="2203996"/>
            <a:ext cx="76619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Для вычисленных </a:t>
            </a:r>
            <a:r>
              <a:rPr lang="ru-RU" sz="2000" dirty="0" err="1" smtClean="0"/>
              <a:t>матожиданий</a:t>
            </a:r>
            <a:r>
              <a:rPr lang="ru-RU" sz="2000" dirty="0" smtClean="0"/>
              <a:t> и </a:t>
            </a:r>
            <a:r>
              <a:rPr lang="ru-RU" sz="2000" dirty="0" smtClean="0"/>
              <a:t>дисперсий проводится </a:t>
            </a:r>
            <a:r>
              <a:rPr lang="en-US" sz="2000" dirty="0" smtClean="0"/>
              <a:t>z </a:t>
            </a:r>
            <a:r>
              <a:rPr lang="en-US" sz="2000" dirty="0" smtClean="0"/>
              <a:t>– </a:t>
            </a:r>
            <a:r>
              <a:rPr lang="ru-RU" sz="2000" dirty="0" smtClean="0"/>
              <a:t>тест </a:t>
            </a:r>
            <a:r>
              <a:rPr lang="ru-RU" sz="2000" dirty="0"/>
              <a:t>с общепринятыми критериями статистической значимости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316070" y="2233023"/>
            <a:ext cx="7745955" cy="707887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/>
          <p:cNvSpPr txBox="1"/>
          <p:nvPr/>
        </p:nvSpPr>
        <p:spPr>
          <a:xfrm>
            <a:off x="1824824" y="3815085"/>
            <a:ext cx="2915528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|</a:t>
            </a:r>
            <a:r>
              <a:rPr lang="en-US" sz="2000" i="1" dirty="0"/>
              <a:t>z</a:t>
            </a:r>
            <a:r>
              <a:rPr lang="en-US" sz="2000" dirty="0"/>
              <a:t>|&gt;1.96, </a:t>
            </a:r>
            <a:r>
              <a:rPr lang="en-US" sz="2000" i="1" dirty="0"/>
              <a:t>p</a:t>
            </a:r>
            <a:r>
              <a:rPr lang="en-US" sz="2000" dirty="0"/>
              <a:t>-value ≤</a:t>
            </a:r>
            <a:r>
              <a:rPr lang="en-US" sz="2000" dirty="0" smtClean="0"/>
              <a:t> </a:t>
            </a:r>
            <a:r>
              <a:rPr lang="en-US" sz="2000" dirty="0"/>
              <a:t>0.05</a:t>
            </a:r>
            <a:endParaRPr lang="ru-RU" sz="2000" dirty="0"/>
          </a:p>
        </p:txBody>
      </p:sp>
      <p:sp>
        <p:nvSpPr>
          <p:cNvPr id="25" name="TextBox 24"/>
          <p:cNvSpPr txBox="1"/>
          <p:nvPr/>
        </p:nvSpPr>
        <p:spPr>
          <a:xfrm>
            <a:off x="6082528" y="5063400"/>
            <a:ext cx="46445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err="1"/>
              <a:t>Координированность</a:t>
            </a:r>
            <a:r>
              <a:rPr lang="ru-RU" sz="2000" dirty="0"/>
              <a:t> экспрессии </a:t>
            </a:r>
            <a:r>
              <a:rPr lang="ru-RU" sz="2000" dirty="0" smtClean="0"/>
              <a:t>незначима</a:t>
            </a:r>
            <a:endParaRPr lang="ru-RU" sz="2000" dirty="0"/>
          </a:p>
        </p:txBody>
      </p:sp>
      <p:sp>
        <p:nvSpPr>
          <p:cNvPr id="26" name="Прямоугольник 25"/>
          <p:cNvSpPr/>
          <p:nvPr/>
        </p:nvSpPr>
        <p:spPr>
          <a:xfrm>
            <a:off x="6082529" y="4909512"/>
            <a:ext cx="4697954" cy="101566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 стрелкой 11"/>
          <p:cNvCxnSpPr>
            <a:stCxn id="9" idx="2"/>
            <a:endCxn id="21" idx="0"/>
          </p:cNvCxnSpPr>
          <p:nvPr/>
        </p:nvCxnSpPr>
        <p:spPr>
          <a:xfrm flipH="1">
            <a:off x="3282588" y="2940910"/>
            <a:ext cx="2906460" cy="87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9" idx="2"/>
            <a:endCxn id="50" idx="0"/>
          </p:cNvCxnSpPr>
          <p:nvPr/>
        </p:nvCxnSpPr>
        <p:spPr>
          <a:xfrm>
            <a:off x="6189048" y="2940910"/>
            <a:ext cx="2121302" cy="874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04437" y="4887741"/>
            <a:ext cx="46445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err="1"/>
              <a:t>К</a:t>
            </a:r>
            <a:r>
              <a:rPr lang="ru-RU" sz="2000" dirty="0" err="1" smtClean="0"/>
              <a:t>оординированность</a:t>
            </a:r>
            <a:r>
              <a:rPr lang="ru-RU" sz="2000" dirty="0" smtClean="0"/>
              <a:t> </a:t>
            </a:r>
            <a:r>
              <a:rPr lang="ru-RU" sz="2000" dirty="0"/>
              <a:t>экспрессии в пределах </a:t>
            </a:r>
            <a:r>
              <a:rPr lang="ru-RU" sz="2000" dirty="0" smtClean="0"/>
              <a:t>доменной </a:t>
            </a:r>
            <a:r>
              <a:rPr lang="ru-RU" sz="2000" dirty="0"/>
              <a:t>структуры статистически значима</a:t>
            </a:r>
            <a:endParaRPr lang="ru-RU" sz="2000" dirty="0"/>
          </a:p>
        </p:txBody>
      </p:sp>
      <p:sp>
        <p:nvSpPr>
          <p:cNvPr id="42" name="Прямоугольник 41"/>
          <p:cNvSpPr/>
          <p:nvPr/>
        </p:nvSpPr>
        <p:spPr>
          <a:xfrm>
            <a:off x="933611" y="4909512"/>
            <a:ext cx="4697954" cy="10156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9" name="Прямая со стрелкой 48"/>
          <p:cNvCxnSpPr>
            <a:stCxn id="21" idx="2"/>
            <a:endCxn id="42" idx="0"/>
          </p:cNvCxnSpPr>
          <p:nvPr/>
        </p:nvCxnSpPr>
        <p:spPr>
          <a:xfrm>
            <a:off x="3282588" y="4215195"/>
            <a:ext cx="0" cy="694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4270" y="1282168"/>
            <a:ext cx="54972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u="sng" dirty="0" smtClean="0"/>
              <a:t>Предположение</a:t>
            </a:r>
            <a:r>
              <a:rPr lang="en-US" sz="2000" u="sng" dirty="0" smtClean="0"/>
              <a:t>:</a:t>
            </a:r>
            <a:r>
              <a:rPr lang="ru-RU" sz="2000" dirty="0" smtClean="0"/>
              <a:t> В результате выполнения программы данные распределены по Гауссу</a:t>
            </a:r>
            <a:endParaRPr lang="ru-RU" sz="2000" u="sng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75771" y="1282168"/>
            <a:ext cx="5217886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Соединительная линия уступом 9"/>
          <p:cNvCxnSpPr>
            <a:stCxn id="7" idx="3"/>
            <a:endCxn id="9" idx="0"/>
          </p:cNvCxnSpPr>
          <p:nvPr/>
        </p:nvCxnSpPr>
        <p:spPr>
          <a:xfrm>
            <a:off x="5493657" y="1636111"/>
            <a:ext cx="695391" cy="5969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19009" y="1543151"/>
            <a:ext cx="2277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Если предположение</a:t>
            </a:r>
          </a:p>
          <a:p>
            <a:r>
              <a:rPr lang="ru-RU" dirty="0" smtClean="0"/>
              <a:t>верно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6852586" y="3815085"/>
            <a:ext cx="2915528" cy="40011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000" dirty="0"/>
              <a:t>|</a:t>
            </a:r>
            <a:r>
              <a:rPr lang="en-US" sz="2000" i="1" dirty="0" smtClean="0"/>
              <a:t>z</a:t>
            </a:r>
            <a:r>
              <a:rPr lang="en-US" sz="2000" dirty="0" smtClean="0"/>
              <a:t>|&lt; 1.96</a:t>
            </a:r>
            <a:r>
              <a:rPr lang="en-US" sz="2000" dirty="0"/>
              <a:t>, </a:t>
            </a:r>
            <a:r>
              <a:rPr lang="en-US" sz="2000" i="1" dirty="0"/>
              <a:t>p</a:t>
            </a:r>
            <a:r>
              <a:rPr lang="en-US" sz="2000" dirty="0"/>
              <a:t>-value </a:t>
            </a:r>
            <a:r>
              <a:rPr lang="en-US" sz="2000" dirty="0" smtClean="0"/>
              <a:t>≥</a:t>
            </a:r>
            <a:r>
              <a:rPr lang="ru-RU" sz="2000" dirty="0" smtClean="0"/>
              <a:t> </a:t>
            </a:r>
            <a:r>
              <a:rPr lang="en-US" sz="2000" dirty="0" smtClean="0"/>
              <a:t>0.05</a:t>
            </a:r>
            <a:endParaRPr lang="ru-RU" sz="2000" dirty="0"/>
          </a:p>
        </p:txBody>
      </p:sp>
      <p:cxnSp>
        <p:nvCxnSpPr>
          <p:cNvPr id="51" name="Прямая со стрелкой 50"/>
          <p:cNvCxnSpPr/>
          <p:nvPr/>
        </p:nvCxnSpPr>
        <p:spPr>
          <a:xfrm>
            <a:off x="8310350" y="4215195"/>
            <a:ext cx="0" cy="694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1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2515391" y="391055"/>
            <a:ext cx="8808564" cy="784830"/>
            <a:chOff x="2515391" y="391055"/>
            <a:chExt cx="8808564" cy="784830"/>
          </a:xfrm>
        </p:grpSpPr>
        <p:sp>
          <p:nvSpPr>
            <p:cNvPr id="13" name="TextBox 12"/>
            <p:cNvSpPr txBox="1"/>
            <p:nvPr/>
          </p:nvSpPr>
          <p:spPr>
            <a:xfrm>
              <a:off x="3232578" y="391055"/>
              <a:ext cx="80913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Реализация алгоритма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2515391" y="1164977"/>
              <a:ext cx="6831809" cy="109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58763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06</a:t>
            </a:r>
            <a:endParaRPr lang="ru-RU" sz="9600" dirty="0">
              <a:solidFill>
                <a:srgbClr val="F2F2F2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8240" y="1998654"/>
            <a:ext cx="3413815" cy="25805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97816" y="4643120"/>
            <a:ext cx="46884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Рис.1</a:t>
            </a:r>
            <a:r>
              <a:rPr lang="en-US" dirty="0" smtClean="0"/>
              <a:t>: </a:t>
            </a:r>
            <a:r>
              <a:rPr lang="ru-RU" dirty="0" smtClean="0"/>
              <a:t>Распределение длин</a:t>
            </a:r>
            <a:r>
              <a:rPr lang="en-US" dirty="0" smtClean="0"/>
              <a:t> </a:t>
            </a:r>
            <a:r>
              <a:rPr lang="ru-RU" dirty="0" smtClean="0"/>
              <a:t>и уровней экспрессии генов</a:t>
            </a:r>
            <a:r>
              <a:rPr lang="en-US" dirty="0" smtClean="0"/>
              <a:t> </a:t>
            </a:r>
            <a:r>
              <a:rPr lang="ru-RU" dirty="0" smtClean="0"/>
              <a:t>для 1й хромосомы человека (культуры </a:t>
            </a:r>
            <a:r>
              <a:rPr lang="en-US" dirty="0" smtClean="0"/>
              <a:t>HEK293, K562</a:t>
            </a:r>
            <a:r>
              <a:rPr lang="ru-RU" dirty="0" smtClean="0"/>
              <a:t>)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5460" y="1933220"/>
            <a:ext cx="3473199" cy="25872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6121" y="2134767"/>
            <a:ext cx="35585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 smtClean="0"/>
              <a:t>Язык</a:t>
            </a:r>
            <a:r>
              <a:rPr lang="en-US" dirty="0" smtClean="0"/>
              <a:t>: python,</a:t>
            </a:r>
          </a:p>
          <a:p>
            <a:r>
              <a:rPr lang="ru-RU" dirty="0" smtClean="0"/>
              <a:t>немного С++</a:t>
            </a:r>
          </a:p>
          <a:p>
            <a:pPr marL="285750" indent="-285750">
              <a:buFontTx/>
              <a:buChar char="-"/>
            </a:pPr>
            <a:r>
              <a:rPr lang="ru-RU" dirty="0" smtClean="0"/>
              <a:t>Координаты, длины,</a:t>
            </a:r>
            <a:r>
              <a:rPr lang="en-US" dirty="0" smtClean="0"/>
              <a:t> </a:t>
            </a:r>
            <a:r>
              <a:rPr lang="ru-RU" dirty="0" smtClean="0"/>
              <a:t>аннотации,</a:t>
            </a:r>
            <a:r>
              <a:rPr lang="en-US" dirty="0" smtClean="0"/>
              <a:t> </a:t>
            </a:r>
            <a:r>
              <a:rPr lang="ru-RU" dirty="0"/>
              <a:t>з</a:t>
            </a:r>
            <a:r>
              <a:rPr lang="ru-RU" dirty="0" smtClean="0"/>
              <a:t>начения экспрессии взяты из открытых источников (</a:t>
            </a:r>
            <a:r>
              <a:rPr lang="en-US" dirty="0" smtClean="0"/>
              <a:t>NCBI, Fantom5</a:t>
            </a:r>
            <a:r>
              <a:rPr lang="ru-RU" dirty="0" smtClean="0"/>
              <a:t>)</a:t>
            </a:r>
          </a:p>
          <a:p>
            <a:endParaRPr lang="en-US" dirty="0" smtClean="0"/>
          </a:p>
          <a:p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736121" y="4247811"/>
            <a:ext cx="35585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u="sng" dirty="0" smtClean="0"/>
              <a:t>Основные шаги</a:t>
            </a:r>
            <a:r>
              <a:rPr lang="en-US" u="sng" dirty="0" smtClean="0"/>
              <a:t>:</a:t>
            </a:r>
          </a:p>
          <a:p>
            <a:pPr marL="342900" indent="-342900">
              <a:buAutoNum type="arabicParenR"/>
            </a:pPr>
            <a:r>
              <a:rPr lang="ru-RU" dirty="0" smtClean="0"/>
              <a:t>Анализ открытых данных, оценка диапазона значений для генерации тестовых выборок</a:t>
            </a:r>
          </a:p>
          <a:p>
            <a:pPr marL="342900" indent="-342900">
              <a:buAutoNum type="arabicParenR"/>
            </a:pPr>
            <a:r>
              <a:rPr lang="ru-RU" dirty="0" smtClean="0"/>
              <a:t>Разработка программы</a:t>
            </a:r>
          </a:p>
          <a:p>
            <a:pPr marL="342900" indent="-342900">
              <a:buAutoNum type="arabicParenR"/>
            </a:pPr>
            <a:r>
              <a:rPr lang="ru-RU" dirty="0" smtClean="0"/>
              <a:t>Оптимизация и тестирование </a:t>
            </a:r>
            <a:endParaRPr lang="en-US" dirty="0" smtClean="0"/>
          </a:p>
          <a:p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296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3232578" y="391055"/>
            <a:ext cx="6894401" cy="646331"/>
            <a:chOff x="3232579" y="391055"/>
            <a:chExt cx="6894401" cy="646331"/>
          </a:xfrm>
        </p:grpSpPr>
        <p:sp>
          <p:nvSpPr>
            <p:cNvPr id="13" name="TextBox 12"/>
            <p:cNvSpPr txBox="1"/>
            <p:nvPr/>
          </p:nvSpPr>
          <p:spPr>
            <a:xfrm>
              <a:off x="3232579" y="391055"/>
              <a:ext cx="68944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Тестирование метода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3368040" y="982734"/>
              <a:ext cx="557022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58763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06</a:t>
            </a:r>
            <a:endParaRPr lang="ru-RU" sz="9600" dirty="0">
              <a:solidFill>
                <a:srgbClr val="F2F2F2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321" y="1119562"/>
            <a:ext cx="112806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u="sng" dirty="0" smtClean="0"/>
              <a:t>Центральная гипотеза</a:t>
            </a:r>
            <a:r>
              <a:rPr lang="en-US" sz="2000" dirty="0" smtClean="0"/>
              <a:t>: </a:t>
            </a:r>
            <a:r>
              <a:rPr lang="ru-RU" sz="2000" dirty="0" smtClean="0"/>
              <a:t>Если алгоритм верен, </a:t>
            </a:r>
            <a:r>
              <a:rPr lang="ru-RU" sz="2000" dirty="0" smtClean="0"/>
              <a:t>то для хромосомы</a:t>
            </a:r>
            <a:r>
              <a:rPr lang="en-US" sz="2000" dirty="0" smtClean="0"/>
              <a:t>/</a:t>
            </a:r>
            <a:r>
              <a:rPr lang="ru-RU" sz="2000" dirty="0" smtClean="0"/>
              <a:t>генома со случайно сгенерированными генами, доменами и уровнями экспрессии </a:t>
            </a:r>
            <a:r>
              <a:rPr lang="ru-RU" sz="2000" dirty="0"/>
              <a:t>мы должны получить </a:t>
            </a:r>
            <a:r>
              <a:rPr lang="ru-RU" sz="2000" dirty="0" smtClean="0"/>
              <a:t>нормальное распределение </a:t>
            </a:r>
            <a:r>
              <a:rPr lang="ru-RU" sz="2000" dirty="0"/>
              <a:t>для </a:t>
            </a:r>
            <a:r>
              <a:rPr lang="en-US" sz="2000" dirty="0"/>
              <a:t>z(</a:t>
            </a:r>
            <a:r>
              <a:rPr lang="en-US" sz="2000" dirty="0">
                <a:sym typeface="Symbol"/>
              </a:rPr>
              <a:t>=0, =1</a:t>
            </a:r>
            <a:r>
              <a:rPr lang="en-US" sz="2000" dirty="0"/>
              <a:t>)</a:t>
            </a:r>
            <a:endParaRPr lang="ru-RU" sz="2000" u="sng" dirty="0"/>
          </a:p>
          <a:p>
            <a:pPr algn="ctr"/>
            <a:endParaRPr lang="ru-RU" sz="2000" u="sng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769256" y="1183227"/>
            <a:ext cx="10762343" cy="917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625251" y="2182609"/>
            <a:ext cx="7192033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ru-RU" dirty="0" smtClean="0"/>
              <a:t>Ложноположительным результатом</a:t>
            </a:r>
            <a:r>
              <a:rPr lang="en-US" dirty="0" smtClean="0"/>
              <a:t> (FDR)</a:t>
            </a:r>
            <a:r>
              <a:rPr lang="ru-RU" dirty="0" smtClean="0"/>
              <a:t> при этом считается </a:t>
            </a:r>
            <a:r>
              <a:rPr lang="en-US" dirty="0" smtClean="0"/>
              <a:t>|z|</a:t>
            </a:r>
            <a:r>
              <a:rPr lang="ru-RU" dirty="0" smtClean="0"/>
              <a:t> </a:t>
            </a:r>
            <a:r>
              <a:rPr lang="en-US" dirty="0" smtClean="0"/>
              <a:t>&gt; </a:t>
            </a:r>
            <a:r>
              <a:rPr lang="en-US" dirty="0" smtClean="0"/>
              <a:t>1.9</a:t>
            </a:r>
            <a:r>
              <a:rPr lang="ru-RU" dirty="0" smtClean="0"/>
              <a:t>6</a:t>
            </a:r>
            <a:endParaRPr lang="ru-RU" dirty="0"/>
          </a:p>
        </p:txBody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752" y="2597670"/>
            <a:ext cx="3953673" cy="292728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72918" y="5555163"/>
            <a:ext cx="60653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Рис.2</a:t>
            </a:r>
            <a:r>
              <a:rPr lang="en-US" dirty="0" smtClean="0"/>
              <a:t>:</a:t>
            </a:r>
            <a:r>
              <a:rPr lang="ru-RU" dirty="0" smtClean="0"/>
              <a:t> Гистограмма распределения </a:t>
            </a:r>
            <a:r>
              <a:rPr lang="en-US" dirty="0" smtClean="0"/>
              <a:t>z </a:t>
            </a:r>
            <a:r>
              <a:rPr lang="ru-RU" dirty="0" smtClean="0"/>
              <a:t>для 1000 искусственно сгенерированных хромосом. </a:t>
            </a:r>
          </a:p>
          <a:p>
            <a:pPr algn="ctr"/>
            <a:r>
              <a:rPr lang="ru-RU" dirty="0" smtClean="0"/>
              <a:t>Количество перестановок для каждой хромосомы 10 тыс.</a:t>
            </a:r>
          </a:p>
          <a:p>
            <a:pPr algn="ctr"/>
            <a:r>
              <a:rPr lang="en-US" dirty="0" smtClean="0"/>
              <a:t>FDR = 1.3%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083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/>
          <p:cNvGrpSpPr/>
          <p:nvPr/>
        </p:nvGrpSpPr>
        <p:grpSpPr>
          <a:xfrm>
            <a:off x="3232578" y="391055"/>
            <a:ext cx="6894401" cy="646331"/>
            <a:chOff x="3232579" y="391055"/>
            <a:chExt cx="6894401" cy="646331"/>
          </a:xfrm>
        </p:grpSpPr>
        <p:sp>
          <p:nvSpPr>
            <p:cNvPr id="13" name="TextBox 12"/>
            <p:cNvSpPr txBox="1"/>
            <p:nvPr/>
          </p:nvSpPr>
          <p:spPr>
            <a:xfrm>
              <a:off x="3232579" y="391055"/>
              <a:ext cx="68944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Тестирование метода</a:t>
              </a:r>
            </a:p>
          </p:txBody>
        </p:sp>
        <p:cxnSp>
          <p:nvCxnSpPr>
            <p:cNvPr id="15" name="Прямая соединительная линия 14"/>
            <p:cNvCxnSpPr/>
            <p:nvPr/>
          </p:nvCxnSpPr>
          <p:spPr>
            <a:xfrm>
              <a:off x="3368040" y="982734"/>
              <a:ext cx="557022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/>
          <p:cNvSpPr txBox="1"/>
          <p:nvPr/>
        </p:nvSpPr>
        <p:spPr>
          <a:xfrm>
            <a:off x="-213043" y="-393775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</a:t>
            </a:r>
            <a:r>
              <a:rPr lang="ru-RU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7</a:t>
            </a:r>
            <a:endParaRPr lang="ru-RU" sz="9600" dirty="0">
              <a:solidFill>
                <a:srgbClr val="F2F2F2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906" y="254628"/>
            <a:ext cx="736672" cy="73667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101853" y="4854810"/>
            <a:ext cx="60653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Рис.</a:t>
            </a:r>
            <a:r>
              <a:rPr lang="en-US" sz="1400" dirty="0" smtClean="0"/>
              <a:t>3: </a:t>
            </a:r>
            <a:r>
              <a:rPr lang="ru-RU" sz="1400" dirty="0" smtClean="0"/>
              <a:t>Количество ложноположительных результатов и время выполнения алгоритма в зависимости от числа поворотов хромосомы </a:t>
            </a:r>
            <a:endParaRPr lang="ru-RU" sz="1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198" y="1923143"/>
            <a:ext cx="3597326" cy="2796906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4524" y="1923143"/>
            <a:ext cx="3389813" cy="27969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015" y="1629065"/>
            <a:ext cx="37138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 smtClean="0"/>
              <a:t>Результаты тестирования</a:t>
            </a:r>
            <a:r>
              <a:rPr lang="en-US" u="sng" dirty="0" smtClean="0"/>
              <a:t>:</a:t>
            </a:r>
            <a:endParaRPr lang="ru-RU" u="sng" dirty="0" smtClean="0"/>
          </a:p>
          <a:p>
            <a:endParaRPr lang="en-US" u="sng" dirty="0" smtClean="0"/>
          </a:p>
          <a:p>
            <a:pPr marL="342900" indent="-342900">
              <a:buAutoNum type="arabicParenR"/>
            </a:pPr>
            <a:r>
              <a:rPr lang="ru-RU" dirty="0" smtClean="0"/>
              <a:t>Увеличение числа поворотов приводит к существенному росту времени выполнения алгоритма</a:t>
            </a:r>
          </a:p>
          <a:p>
            <a:pPr marL="342900" indent="-342900">
              <a:buFontTx/>
              <a:buAutoNum type="arabicParenR"/>
            </a:pPr>
            <a:r>
              <a:rPr lang="ru-RU" dirty="0" smtClean="0"/>
              <a:t>При выполнении моделирования </a:t>
            </a:r>
            <a:r>
              <a:rPr lang="ru-RU" dirty="0"/>
              <a:t>на большом количестве </a:t>
            </a:r>
            <a:r>
              <a:rPr lang="ru-RU" dirty="0" smtClean="0"/>
              <a:t>поворотов мы получаем  </a:t>
            </a:r>
            <a:r>
              <a:rPr lang="ru-RU" dirty="0"/>
              <a:t>заниженный </a:t>
            </a:r>
            <a:r>
              <a:rPr lang="en-US" dirty="0" smtClean="0"/>
              <a:t>FDR</a:t>
            </a:r>
            <a:r>
              <a:rPr lang="ru-RU" dirty="0" smtClean="0"/>
              <a:t> (0.013)</a:t>
            </a:r>
            <a:r>
              <a:rPr lang="en-US" dirty="0" smtClean="0"/>
              <a:t>, </a:t>
            </a:r>
            <a:r>
              <a:rPr lang="ru-RU" dirty="0"/>
              <a:t>который для применения </a:t>
            </a:r>
            <a:r>
              <a:rPr lang="ru-RU" dirty="0" smtClean="0"/>
              <a:t>Гауссовой </a:t>
            </a:r>
            <a:r>
              <a:rPr lang="ru-RU" dirty="0"/>
              <a:t>статистики и </a:t>
            </a:r>
            <a:r>
              <a:rPr lang="en-US" dirty="0"/>
              <a:t>z-</a:t>
            </a:r>
            <a:r>
              <a:rPr lang="ru-RU" dirty="0"/>
              <a:t>критерия должен быть </a:t>
            </a:r>
            <a:r>
              <a:rPr lang="ru-RU" dirty="0" smtClean="0"/>
              <a:t>равен </a:t>
            </a:r>
            <a:r>
              <a:rPr lang="en-US" dirty="0" smtClean="0"/>
              <a:t>0.05</a:t>
            </a:r>
            <a:r>
              <a:rPr lang="ru-RU" dirty="0"/>
              <a:t>±</a:t>
            </a:r>
            <a:r>
              <a:rPr lang="en-US" dirty="0" smtClean="0"/>
              <a:t>0.005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704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4837043" y="-6652097"/>
            <a:ext cx="8211377" cy="8211377"/>
          </a:xfrm>
          <a:prstGeom prst="ellipse">
            <a:avLst/>
          </a:prstGeom>
          <a:solidFill>
            <a:srgbClr val="D9DB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4" name="Группа 13"/>
          <p:cNvGrpSpPr/>
          <p:nvPr/>
        </p:nvGrpSpPr>
        <p:grpSpPr>
          <a:xfrm>
            <a:off x="7840325" y="306647"/>
            <a:ext cx="5701581" cy="747270"/>
            <a:chOff x="4784973" y="397219"/>
            <a:chExt cx="5701581" cy="747270"/>
          </a:xfrm>
        </p:grpSpPr>
        <p:sp>
          <p:nvSpPr>
            <p:cNvPr id="9" name="TextBox 8"/>
            <p:cNvSpPr txBox="1"/>
            <p:nvPr/>
          </p:nvSpPr>
          <p:spPr>
            <a:xfrm>
              <a:off x="5342965" y="397219"/>
              <a:ext cx="514358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Arial Black" panose="020B0A04020102020204" pitchFamily="34" charset="0"/>
                </a:rPr>
                <a:t>Выводы</a:t>
              </a:r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4784973" y="1144489"/>
              <a:ext cx="2705755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1867" y="306647"/>
            <a:ext cx="711169" cy="71116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0" y="5381536"/>
            <a:ext cx="18521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600" dirty="0" smtClean="0">
                <a:solidFill>
                  <a:srgbClr val="F2F2F2"/>
                </a:solidFill>
                <a:latin typeface="Arial Black" panose="020B0A04020102020204" pitchFamily="34" charset="0"/>
              </a:rPr>
              <a:t>08</a:t>
            </a:r>
            <a:endParaRPr lang="ru-RU" sz="9600" dirty="0">
              <a:solidFill>
                <a:srgbClr val="F2F2F2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0367" y="306647"/>
            <a:ext cx="478016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u="sng" dirty="0" smtClean="0"/>
              <a:t>В данный момент</a:t>
            </a:r>
            <a:r>
              <a:rPr lang="en-US" sz="2000" u="sng" dirty="0" smtClean="0"/>
              <a:t>:</a:t>
            </a:r>
            <a:endParaRPr lang="ru-RU" sz="2000" u="sng" dirty="0" smtClean="0"/>
          </a:p>
          <a:p>
            <a:pPr algn="ctr"/>
            <a:endParaRPr lang="ru-RU" sz="2000" u="sng" dirty="0" smtClean="0"/>
          </a:p>
          <a:p>
            <a:pPr marL="457200" indent="-457200">
              <a:buAutoNum type="arabicParenR"/>
            </a:pPr>
            <a:r>
              <a:rPr lang="ru-RU" sz="2000" dirty="0"/>
              <a:t>Реализован алгоритм, использующий замыкание хромосомы/генома в кольцо с последующим случайным </a:t>
            </a:r>
            <a:r>
              <a:rPr lang="en-US" sz="2000" dirty="0" smtClean="0"/>
              <a:t>“</a:t>
            </a:r>
            <a:r>
              <a:rPr lang="ru-RU" sz="2000" dirty="0" smtClean="0"/>
              <a:t>вращением</a:t>
            </a:r>
            <a:r>
              <a:rPr lang="en-US" sz="2000" dirty="0" smtClean="0"/>
              <a:t>”</a:t>
            </a:r>
            <a:r>
              <a:rPr lang="ru-RU" sz="2000" dirty="0" smtClean="0"/>
              <a:t> </a:t>
            </a:r>
            <a:r>
              <a:rPr lang="ru-RU" sz="2000" dirty="0"/>
              <a:t>для исследования </a:t>
            </a:r>
            <a:r>
              <a:rPr lang="ru-RU" sz="2000" dirty="0" err="1"/>
              <a:t>координированности</a:t>
            </a:r>
            <a:r>
              <a:rPr lang="ru-RU" sz="2000" dirty="0"/>
              <a:t> экспрессии генов в той или иной доменной структуре генома.</a:t>
            </a:r>
          </a:p>
          <a:p>
            <a:pPr marL="457200" indent="-457200">
              <a:buAutoNum type="arabicParenR"/>
            </a:pPr>
            <a:r>
              <a:rPr lang="ru-RU" sz="2000" dirty="0"/>
              <a:t>Выполнено начальное статистическое моделирование, реализованная программа демонстрирует </a:t>
            </a:r>
            <a:r>
              <a:rPr lang="en-US" sz="2000" dirty="0"/>
              <a:t>FDR = </a:t>
            </a:r>
            <a:r>
              <a:rPr lang="ru-RU" sz="2000" dirty="0"/>
              <a:t>1.3</a:t>
            </a:r>
            <a:r>
              <a:rPr lang="en-US" sz="2000" dirty="0"/>
              <a:t>% </a:t>
            </a:r>
            <a:r>
              <a:rPr lang="ru-RU" sz="2000" dirty="0"/>
              <a:t>при </a:t>
            </a:r>
            <a:r>
              <a:rPr lang="en-US" sz="2000" dirty="0"/>
              <a:t>10 000 </a:t>
            </a:r>
            <a:r>
              <a:rPr lang="ru-RU" sz="2000" dirty="0"/>
              <a:t>случайных вращений</a:t>
            </a:r>
            <a:r>
              <a:rPr lang="ru-RU" sz="2000" dirty="0" smtClean="0"/>
              <a:t>.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5617029" y="1559280"/>
            <a:ext cx="6351931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u="sng" dirty="0" smtClean="0"/>
              <a:t>Проблемы и возможные решения</a:t>
            </a:r>
            <a:r>
              <a:rPr lang="en-US" u="sng" dirty="0" smtClean="0"/>
              <a:t>:</a:t>
            </a:r>
            <a:endParaRPr lang="ru-RU" u="sng" dirty="0" smtClean="0"/>
          </a:p>
          <a:p>
            <a:pPr algn="ctr"/>
            <a:endParaRPr lang="en-US" u="sng" dirty="0" smtClean="0"/>
          </a:p>
          <a:p>
            <a:pPr marL="342900" indent="-342900">
              <a:buAutoNum type="arabicParenR"/>
            </a:pPr>
            <a:r>
              <a:rPr lang="ru-RU" dirty="0"/>
              <a:t>Переработка медленных частей программы на компилируемом языке (уже сделано на </a:t>
            </a:r>
            <a:r>
              <a:rPr lang="en-US" dirty="0"/>
              <a:t>C++</a:t>
            </a:r>
            <a:r>
              <a:rPr lang="ru-RU" dirty="0"/>
              <a:t>, даёт ускорение в </a:t>
            </a:r>
            <a:r>
              <a:rPr lang="en-US" dirty="0"/>
              <a:t>~ </a:t>
            </a:r>
            <a:r>
              <a:rPr lang="ru-RU" dirty="0"/>
              <a:t>15 раз)</a:t>
            </a:r>
            <a:r>
              <a:rPr lang="en-US" dirty="0"/>
              <a:t>, </a:t>
            </a:r>
            <a:r>
              <a:rPr lang="ru-RU" dirty="0"/>
              <a:t>будет применено в </a:t>
            </a:r>
            <a:r>
              <a:rPr lang="ru-RU" dirty="0" err="1"/>
              <a:t>полногеномном</a:t>
            </a:r>
            <a:r>
              <a:rPr lang="ru-RU" dirty="0"/>
              <a:t> статистическом моделировании.</a:t>
            </a:r>
          </a:p>
          <a:p>
            <a:pPr marL="342900" indent="-342900">
              <a:buAutoNum type="arabicParenR"/>
            </a:pPr>
            <a:r>
              <a:rPr lang="ru-RU" dirty="0" smtClean="0"/>
              <a:t>Требуется параметризация </a:t>
            </a:r>
            <a:r>
              <a:rPr lang="ru-RU" dirty="0"/>
              <a:t>метода в зависимости от количества генов и/или </a:t>
            </a:r>
            <a:r>
              <a:rPr lang="ru-RU" dirty="0" smtClean="0"/>
              <a:t>доменов</a:t>
            </a:r>
          </a:p>
          <a:p>
            <a:pPr marL="342900" indent="-342900">
              <a:buFontTx/>
              <a:buAutoNum type="arabicParenR"/>
            </a:pPr>
            <a:r>
              <a:rPr lang="ru-RU" dirty="0"/>
              <a:t>Достигнутый на настоящий момент уровень </a:t>
            </a:r>
            <a:r>
              <a:rPr lang="en-US" dirty="0"/>
              <a:t>FDR (1.3% </a:t>
            </a:r>
            <a:r>
              <a:rPr lang="ru-RU" dirty="0"/>
              <a:t>при 10 000 реализаций) является существенно заниженным (должен быть </a:t>
            </a:r>
            <a:r>
              <a:rPr lang="en-US" dirty="0"/>
              <a:t>5%±0.5%). </a:t>
            </a:r>
            <a:r>
              <a:rPr lang="ru-RU" dirty="0"/>
              <a:t>Н</a:t>
            </a:r>
            <a:r>
              <a:rPr lang="ru-RU" dirty="0" smtClean="0"/>
              <a:t>ачато моделирование </a:t>
            </a:r>
            <a:r>
              <a:rPr lang="ru-RU" dirty="0" err="1"/>
              <a:t>полногеномного</a:t>
            </a:r>
            <a:r>
              <a:rPr lang="ru-RU" dirty="0"/>
              <a:t> масштаба, которое должно нивелировать возможно влияющие эффекты статистически малого числа доменов/генов на одной хромосоме</a:t>
            </a:r>
            <a:r>
              <a:rPr lang="ru-RU" dirty="0" smtClean="0"/>
              <a:t>.</a:t>
            </a:r>
          </a:p>
          <a:p>
            <a:pPr marL="342900" indent="-342900">
              <a:buFontTx/>
              <a:buAutoNum type="arabicParenR"/>
            </a:pPr>
            <a:r>
              <a:rPr lang="ru-RU" dirty="0"/>
              <a:t>После получения работоспособной программы с </a:t>
            </a:r>
            <a:r>
              <a:rPr lang="en-US" dirty="0" smtClean="0"/>
              <a:t>FDR</a:t>
            </a:r>
            <a:r>
              <a:rPr lang="en-US" dirty="0"/>
              <a:t>= 5%±0.5% </a:t>
            </a:r>
            <a:r>
              <a:rPr lang="ru-RU" dirty="0"/>
              <a:t>будет выполнено тестирование на наборах данных, для которых экспериментально установлена </a:t>
            </a:r>
            <a:r>
              <a:rPr lang="ru-RU" dirty="0" err="1"/>
              <a:t>координированность</a:t>
            </a:r>
            <a:r>
              <a:rPr lang="ru-RU" dirty="0"/>
              <a:t> (либо отсутствие </a:t>
            </a:r>
            <a:r>
              <a:rPr lang="ru-RU" dirty="0" err="1"/>
              <a:t>координированности</a:t>
            </a:r>
            <a:r>
              <a:rPr lang="ru-RU" dirty="0"/>
              <a:t>) экспрессии.</a:t>
            </a:r>
            <a:endParaRPr lang="en-US" dirty="0"/>
          </a:p>
          <a:p>
            <a:endParaRPr lang="ru-RU" dirty="0"/>
          </a:p>
          <a:p>
            <a:pPr marL="342900" indent="-342900">
              <a:buAutoNum type="arabicParenR"/>
            </a:pPr>
            <a:endParaRPr lang="ru-RU" sz="2000" dirty="0" smtClean="0"/>
          </a:p>
          <a:p>
            <a:pPr marL="342900" indent="-342900">
              <a:buAutoNum type="arabicParenR"/>
            </a:pPr>
            <a:endParaRPr lang="ru-RU" dirty="0" smtClean="0"/>
          </a:p>
          <a:p>
            <a:pPr marL="342900" indent="-342900"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425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</TotalTime>
  <Words>734</Words>
  <Application>Microsoft Office PowerPoint</Application>
  <PresentationFormat>Широкоэкранный</PresentationFormat>
  <Paragraphs>98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Calibri Light</vt:lpstr>
      <vt:lpstr>Symbol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Константин Степовой</dc:creator>
  <cp:lastModifiedBy>Константин Степовой</cp:lastModifiedBy>
  <cp:revision>32</cp:revision>
  <dcterms:created xsi:type="dcterms:W3CDTF">2024-05-18T19:08:03Z</dcterms:created>
  <dcterms:modified xsi:type="dcterms:W3CDTF">2024-05-19T20:58:59Z</dcterms:modified>
</cp:coreProperties>
</file>